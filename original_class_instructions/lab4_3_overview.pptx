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3" r:id="rId2"/>
    <p:sldId id="273" r:id="rId3"/>
    <p:sldId id="266" r:id="rId4"/>
    <p:sldId id="265" r:id="rId5"/>
    <p:sldId id="53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13" autoAdjust="0"/>
    <p:restoredTop sz="94795"/>
  </p:normalViewPr>
  <p:slideViewPr>
    <p:cSldViewPr snapToGrid="0">
      <p:cViewPr varScale="1">
        <p:scale>
          <a:sx n="102" d="100"/>
          <a:sy n="102" d="100"/>
        </p:scale>
        <p:origin x="21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F0035-1A65-4253-93F4-1FF43CEEA517}" type="datetimeFigureOut">
              <a:rPr lang="en-US" smtClean="0"/>
              <a:t>10/7/25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EDAB1-A585-4E86-B3B5-16D265B9D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099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0EBD4-3366-B228-7F71-1754AA417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98AE1-52DE-2517-15C2-1AE2CC6A67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3F36A-43AF-9F82-F794-1E6F2258D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53B7-6FB4-4A66-9473-C4C66287204C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88C66-AB9C-12C7-5B23-EB47C2488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E0459-92F0-6D80-9154-5DF704056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397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135DD-76E6-5636-9383-C806BE5A4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D6CCA-219D-68CC-D98A-2CDF8EB46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B6EA8-3114-D8A0-ACD4-75115355A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53B7-6FB4-4A66-9473-C4C66287204C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65FB1-0455-B70B-5D92-C73775CD0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86199-8D00-9D3D-F05D-2F00D3FF2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516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64B3A-B313-8EBF-B13B-F349A4D89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951DF-EDB3-AD44-AEBB-ADBAB7821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C90FA-85B2-D1AB-2466-A98EF148A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53B7-6FB4-4A66-9473-C4C66287204C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81AD7-D601-9C00-3993-A7AF8BC26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EF02D-AA94-BEBA-7E49-9DCFE08CE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231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12C4A-51BA-797E-E673-27588E51F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0B08E-A3D1-23EB-44E0-EDB36A24A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4555F2-7F6C-D700-9D01-0258C0535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C85B9E-EE8B-D184-6380-312740419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53B7-6FB4-4A66-9473-C4C66287204C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072026-BA99-54C5-5217-C93BED7E5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C65E36-BCE8-5359-40D5-35C338225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498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B1F26-CC39-2DB4-E10B-209D70AED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5DBF2-1B70-C325-6CCC-A7BAA7879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92DCF-E483-7B70-38A2-FCD82DE64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DC599F-6D5A-A13C-E66E-918C4A7F3E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99FC33-71B6-EC6D-679C-FC2E5F9050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301E02-663A-CD7C-DE2E-EE58C0A9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53B7-6FB4-4A66-9473-C4C66287204C}" type="datetimeFigureOut">
              <a:rPr lang="en-US" smtClean="0"/>
              <a:t>10/7/25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523E20-979B-B0E1-52BE-EFF1CD005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B20A00-7294-6FA3-BCA1-32F9559BE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032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E9562-D9C9-3D31-3F39-D301F5BDE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A7B3F-0DB0-F952-B607-351310BDE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53B7-6FB4-4A66-9473-C4C66287204C}" type="datetimeFigureOut">
              <a:rPr lang="en-US" smtClean="0"/>
              <a:t>10/7/25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B32C31-8229-F4EC-A618-3FC891B41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FB7304-1A20-2C93-FA67-2560FF5AD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819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763273-C632-5483-6FD3-514881068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53B7-6FB4-4A66-9473-C4C66287204C}" type="datetimeFigureOut">
              <a:rPr lang="en-US" smtClean="0"/>
              <a:t>10/7/25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9A52CC-4EDF-01E5-CD68-8B30BCA49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4B5B3-6D20-90F2-5B39-487CD7154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45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7CE70-9961-472D-68B7-42472B27C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4F358-0C1F-0F23-B448-3D874A0D3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9F9E4B-525C-8A5C-4665-FCE72EDFE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A2AD3-8A47-FB73-2C88-29EE98313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53B7-6FB4-4A66-9473-C4C66287204C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33773-2DB5-733F-1C78-E035108ED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E2A14-7577-B003-A92B-DCFFFC661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40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A3599-3B81-A5A0-330D-C3EBB9B87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31B9B2-C651-72DE-A8B2-7A1AF00DD6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F0A989-5D03-629C-5BDA-ED1AAB99F5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976402-F6BE-6CF2-2976-CDCEA1476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53B7-6FB4-4A66-9473-C4C66287204C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8ED66-3138-023C-CFC3-E0A21B66E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B449E-F55E-48A8-0D1D-E9E739B62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778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9F612-2E48-EF5E-0677-180FE708D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E4C389-94CE-DC32-FC17-CB246DF6C4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A8D5A-8D2F-EF86-73A7-FC4C70095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53B7-6FB4-4A66-9473-C4C66287204C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D5FEA-1699-FCD5-FDA6-513D6F173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A768A-F758-899D-C0B8-F8EB120F8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18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F48B97-CD47-0C75-D367-E62233BDC1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52993A-736F-B22B-9D87-C25BF1E6E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A3DD5-1821-D1CD-8B53-2842055B8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53B7-6FB4-4A66-9473-C4C66287204C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D7A20-617A-F63F-2834-45C768932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4F856-E01D-8E13-762A-7857C1372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28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9ECDE4-82A5-F9F5-09E0-FAA142E9F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AF5A2-4D25-2210-BC96-A78D7AF60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8A07F-A74A-3456-4DFF-87A64DAC1A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E853B7-6FB4-4A66-9473-C4C66287204C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20B74-A676-7718-93C0-2E8C0EB6D2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7C102-1C1F-1750-BD68-1126ECC30E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74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4AC95F-4DB3-9611-D7AF-EB375DDB9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02" y="1753250"/>
            <a:ext cx="4849144" cy="38825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788329-685D-59C0-A5F6-19A18317243F}"/>
              </a:ext>
            </a:extLst>
          </p:cNvPr>
          <p:cNvSpPr txBox="1"/>
          <p:nvPr/>
        </p:nvSpPr>
        <p:spPr>
          <a:xfrm>
            <a:off x="0" y="929770"/>
            <a:ext cx="65670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Gender Divide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A78367-6591-F505-B557-8A9ACAC0D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055" y="1753250"/>
            <a:ext cx="5166033" cy="40570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3476FB-177C-C665-2FAE-638CD5004387}"/>
              </a:ext>
            </a:extLst>
          </p:cNvPr>
          <p:cNvSpPr txBox="1"/>
          <p:nvPr/>
        </p:nvSpPr>
        <p:spPr>
          <a:xfrm>
            <a:off x="5624946" y="929769"/>
            <a:ext cx="65670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Men Time Spent</a:t>
            </a:r>
          </a:p>
        </p:txBody>
      </p:sp>
    </p:spTree>
    <p:extLst>
      <p:ext uri="{BB962C8B-B14F-4D97-AF65-F5344CB8AC3E}">
        <p14:creationId xmlns:p14="http://schemas.microsoft.com/office/powerpoint/2010/main" val="1694698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2F381-DDF2-0FAA-678C-4F088791E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39F334-8EEE-2A57-C402-EE920840F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0255" y="1632451"/>
            <a:ext cx="4422137" cy="34728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AA95B7-AC5F-15C0-167F-A2048CC18FAB}"/>
              </a:ext>
            </a:extLst>
          </p:cNvPr>
          <p:cNvSpPr txBox="1"/>
          <p:nvPr/>
        </p:nvSpPr>
        <p:spPr>
          <a:xfrm>
            <a:off x="1" y="344142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The Gender Divide and Men Time Spent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099730C1-8CE8-1B57-08AF-7F279118A8B5}"/>
              </a:ext>
            </a:extLst>
          </p:cNvPr>
          <p:cNvSpPr/>
          <p:nvPr/>
        </p:nvSpPr>
        <p:spPr>
          <a:xfrm>
            <a:off x="6831468" y="4779859"/>
            <a:ext cx="4599709" cy="10492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Over Time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BF7F44-A612-B2FF-0D88-1BA4D4655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41" y="1478354"/>
            <a:ext cx="4529803" cy="3626903"/>
          </a:xfrm>
          <a:prstGeom prst="rect">
            <a:avLst/>
          </a:prstGeom>
        </p:spPr>
      </p:pic>
      <p:sp>
        <p:nvSpPr>
          <p:cNvPr id="6" name="Arrow: Right 4">
            <a:extLst>
              <a:ext uri="{FF2B5EF4-FFF2-40B4-BE49-F238E27FC236}">
                <a16:creationId xmlns:a16="http://schemas.microsoft.com/office/drawing/2014/main" id="{054C2EF0-4569-9D92-9CCB-F916A4928456}"/>
              </a:ext>
            </a:extLst>
          </p:cNvPr>
          <p:cNvSpPr/>
          <p:nvPr/>
        </p:nvSpPr>
        <p:spPr>
          <a:xfrm>
            <a:off x="654985" y="4778964"/>
            <a:ext cx="4599709" cy="10492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Over Time</a:t>
            </a:r>
          </a:p>
        </p:txBody>
      </p:sp>
    </p:spTree>
    <p:extLst>
      <p:ext uri="{BB962C8B-B14F-4D97-AF65-F5344CB8AC3E}">
        <p14:creationId xmlns:p14="http://schemas.microsoft.com/office/powerpoint/2010/main" val="2871516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A823A-06DE-3EC6-6D73-DF4EF9D10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7CDA46F-6EA5-21E0-37FF-DE4914201029}"/>
              </a:ext>
            </a:extLst>
          </p:cNvPr>
          <p:cNvSpPr txBox="1"/>
          <p:nvPr/>
        </p:nvSpPr>
        <p:spPr>
          <a:xfrm>
            <a:off x="0" y="48961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Time Use – Activity Files Over Years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1AF25C-8504-F747-147E-3CA7DA433171}"/>
              </a:ext>
            </a:extLst>
          </p:cNvPr>
          <p:cNvSpPr txBox="1"/>
          <p:nvPr/>
        </p:nvSpPr>
        <p:spPr>
          <a:xfrm>
            <a:off x="2676078" y="5491549"/>
            <a:ext cx="2981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2024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8669ED-DE28-5867-0CE6-49AC5ACB2504}"/>
              </a:ext>
            </a:extLst>
          </p:cNvPr>
          <p:cNvSpPr txBox="1"/>
          <p:nvPr/>
        </p:nvSpPr>
        <p:spPr>
          <a:xfrm>
            <a:off x="2163040" y="4964266"/>
            <a:ext cx="2981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2023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9536F6-1C4D-9A26-FCFC-2CD35AF81CCB}"/>
              </a:ext>
            </a:extLst>
          </p:cNvPr>
          <p:cNvSpPr txBox="1"/>
          <p:nvPr/>
        </p:nvSpPr>
        <p:spPr>
          <a:xfrm>
            <a:off x="1737882" y="4560406"/>
            <a:ext cx="2981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2022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E658E4-5F94-3F11-E426-E4B49D8E1FC2}"/>
              </a:ext>
            </a:extLst>
          </p:cNvPr>
          <p:cNvSpPr txBox="1"/>
          <p:nvPr/>
        </p:nvSpPr>
        <p:spPr>
          <a:xfrm>
            <a:off x="-812804" y="1613597"/>
            <a:ext cx="2981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2003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D896D1A5-0806-4FAA-A150-70BC74581C3A}"/>
              </a:ext>
            </a:extLst>
          </p:cNvPr>
          <p:cNvSpPr/>
          <p:nvPr/>
        </p:nvSpPr>
        <p:spPr>
          <a:xfrm>
            <a:off x="10313730" y="1321210"/>
            <a:ext cx="897065" cy="5192324"/>
          </a:xfrm>
          <a:prstGeom prst="rightBrace">
            <a:avLst>
              <a:gd name="adj1" fmla="val 8333"/>
              <a:gd name="adj2" fmla="val 50483"/>
            </a:avLst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A49953-7CD2-B8A6-5271-25C63F7ADC36}"/>
              </a:ext>
            </a:extLst>
          </p:cNvPr>
          <p:cNvSpPr txBox="1"/>
          <p:nvPr/>
        </p:nvSpPr>
        <p:spPr>
          <a:xfrm>
            <a:off x="11243203" y="3455707"/>
            <a:ext cx="8082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Need</a:t>
            </a:r>
          </a:p>
          <a:p>
            <a:pPr algn="ctr"/>
            <a:r>
              <a:rPr lang="en-US" b="1" dirty="0">
                <a:solidFill>
                  <a:schemeClr val="accent2"/>
                </a:solidFill>
              </a:rPr>
              <a:t>the</a:t>
            </a:r>
          </a:p>
          <a:p>
            <a:pPr algn="ctr"/>
            <a:r>
              <a:rPr lang="en-US" b="1" dirty="0">
                <a:solidFill>
                  <a:schemeClr val="accent2"/>
                </a:solidFill>
              </a:rPr>
              <a:t>YEAR!</a:t>
            </a:r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6E5EA0D1-4DDB-9CA2-239C-3AB5F1A5B933}"/>
              </a:ext>
            </a:extLst>
          </p:cNvPr>
          <p:cNvSpPr/>
          <p:nvPr/>
        </p:nvSpPr>
        <p:spPr>
          <a:xfrm>
            <a:off x="11534586" y="4447067"/>
            <a:ext cx="225468" cy="515752"/>
          </a:xfrm>
          <a:prstGeom prst="downArrow">
            <a:avLst/>
          </a:prstGeom>
          <a:solidFill>
            <a:srgbClr val="E972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26A036-A779-0870-DA8E-E1C19F0F13DA}"/>
              </a:ext>
            </a:extLst>
          </p:cNvPr>
          <p:cNvSpPr txBox="1"/>
          <p:nvPr/>
        </p:nvSpPr>
        <p:spPr>
          <a:xfrm>
            <a:off x="11161450" y="5020100"/>
            <a:ext cx="97174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Add</a:t>
            </a:r>
          </a:p>
          <a:p>
            <a:pPr algn="ctr"/>
            <a:r>
              <a:rPr lang="en-US" b="1" dirty="0">
                <a:solidFill>
                  <a:schemeClr val="accent2"/>
                </a:solidFill>
              </a:rPr>
              <a:t>the</a:t>
            </a:r>
          </a:p>
          <a:p>
            <a:pPr algn="ctr"/>
            <a:r>
              <a:rPr lang="en-US" b="1" dirty="0">
                <a:solidFill>
                  <a:schemeClr val="accent2"/>
                </a:solidFill>
              </a:rPr>
              <a:t>PATH</a:t>
            </a:r>
          </a:p>
          <a:p>
            <a:pPr algn="ctr"/>
            <a:r>
              <a:rPr lang="en-US" b="1" dirty="0">
                <a:solidFill>
                  <a:schemeClr val="accent2"/>
                </a:solidFill>
              </a:rPr>
              <a:t>as </a:t>
            </a:r>
          </a:p>
          <a:p>
            <a:pPr algn="ctr"/>
            <a:r>
              <a:rPr lang="en-US" b="1" dirty="0">
                <a:solidFill>
                  <a:schemeClr val="accent2"/>
                </a:solidFill>
              </a:rPr>
              <a:t>needed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BE1F6C7-49B4-882F-7558-DCA8C5F7C2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246"/>
          <a:stretch>
            <a:fillRect/>
          </a:stretch>
        </p:blipFill>
        <p:spPr>
          <a:xfrm>
            <a:off x="1609278" y="1448946"/>
            <a:ext cx="4653735" cy="57815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D94C6B43-3377-BACB-AB12-30FCA9C1DB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246"/>
          <a:stretch>
            <a:fillRect/>
          </a:stretch>
        </p:blipFill>
        <p:spPr>
          <a:xfrm>
            <a:off x="1761678" y="1601346"/>
            <a:ext cx="4653735" cy="578152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9A207B5B-5C73-77B5-315E-A5D9B58FE1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246"/>
          <a:stretch>
            <a:fillRect/>
          </a:stretch>
        </p:blipFill>
        <p:spPr>
          <a:xfrm>
            <a:off x="1914078" y="1753746"/>
            <a:ext cx="4653735" cy="57815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9188D57-1B19-571C-6F4B-C1C9571FED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246"/>
          <a:stretch>
            <a:fillRect/>
          </a:stretch>
        </p:blipFill>
        <p:spPr>
          <a:xfrm>
            <a:off x="2066478" y="1906146"/>
            <a:ext cx="4653735" cy="57815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72A2B215-07D7-A64B-587A-E09B98F9DB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246"/>
          <a:stretch>
            <a:fillRect/>
          </a:stretch>
        </p:blipFill>
        <p:spPr>
          <a:xfrm>
            <a:off x="2218878" y="2058546"/>
            <a:ext cx="4653735" cy="578152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9E413D22-6C48-C3C4-0078-E2925EE70D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246"/>
          <a:stretch>
            <a:fillRect/>
          </a:stretch>
        </p:blipFill>
        <p:spPr>
          <a:xfrm>
            <a:off x="2371278" y="2210946"/>
            <a:ext cx="4653735" cy="578152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6DB40B8-8910-9BEA-E8DC-E84CF74A16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246"/>
          <a:stretch>
            <a:fillRect/>
          </a:stretch>
        </p:blipFill>
        <p:spPr>
          <a:xfrm>
            <a:off x="2523678" y="2363346"/>
            <a:ext cx="4653735" cy="578152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A58AA5F1-3B81-34DF-C1EF-F058B49C30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246"/>
          <a:stretch>
            <a:fillRect/>
          </a:stretch>
        </p:blipFill>
        <p:spPr>
          <a:xfrm>
            <a:off x="2676078" y="2515746"/>
            <a:ext cx="4653735" cy="578152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DAE0F3B-9CD3-64A7-AA30-242C7CAF3C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246"/>
          <a:stretch>
            <a:fillRect/>
          </a:stretch>
        </p:blipFill>
        <p:spPr>
          <a:xfrm>
            <a:off x="2828478" y="2668146"/>
            <a:ext cx="4653735" cy="578152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082AA277-B92E-D79D-1701-2007B5027B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246"/>
          <a:stretch>
            <a:fillRect/>
          </a:stretch>
        </p:blipFill>
        <p:spPr>
          <a:xfrm>
            <a:off x="2980878" y="2820546"/>
            <a:ext cx="4653735" cy="578152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7F9CF84C-BB58-3C4A-5C2F-6F43B93958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246"/>
          <a:stretch>
            <a:fillRect/>
          </a:stretch>
        </p:blipFill>
        <p:spPr>
          <a:xfrm>
            <a:off x="3133278" y="2972946"/>
            <a:ext cx="4653735" cy="578152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4F6952EA-ECE2-1F23-A7E4-F75930C69E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246"/>
          <a:stretch>
            <a:fillRect/>
          </a:stretch>
        </p:blipFill>
        <p:spPr>
          <a:xfrm>
            <a:off x="3285678" y="3125346"/>
            <a:ext cx="4653735" cy="578152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3D2376AE-C787-AD38-A47C-986CD755B6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246"/>
          <a:stretch>
            <a:fillRect/>
          </a:stretch>
        </p:blipFill>
        <p:spPr>
          <a:xfrm>
            <a:off x="3438078" y="3277746"/>
            <a:ext cx="4653735" cy="578152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CAAD1E08-3AA0-47F4-33EC-DE68DCB98C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246"/>
          <a:stretch>
            <a:fillRect/>
          </a:stretch>
        </p:blipFill>
        <p:spPr>
          <a:xfrm>
            <a:off x="3590478" y="3430146"/>
            <a:ext cx="4653735" cy="578152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1B913143-87A1-234A-6916-015ECD765F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246"/>
          <a:stretch>
            <a:fillRect/>
          </a:stretch>
        </p:blipFill>
        <p:spPr>
          <a:xfrm>
            <a:off x="3742878" y="3582546"/>
            <a:ext cx="4653735" cy="578152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DB220D32-3DF1-419C-95E1-4014E06BAE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246"/>
          <a:stretch>
            <a:fillRect/>
          </a:stretch>
        </p:blipFill>
        <p:spPr>
          <a:xfrm>
            <a:off x="3895278" y="3734946"/>
            <a:ext cx="4653735" cy="578152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736238DA-5A7A-791B-9CAE-B8BD8B361E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246"/>
          <a:stretch>
            <a:fillRect/>
          </a:stretch>
        </p:blipFill>
        <p:spPr>
          <a:xfrm>
            <a:off x="4047678" y="3887346"/>
            <a:ext cx="4653735" cy="578152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B5765FC-586C-BC65-E113-2423FD5490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246"/>
          <a:stretch>
            <a:fillRect/>
          </a:stretch>
        </p:blipFill>
        <p:spPr>
          <a:xfrm>
            <a:off x="4200078" y="4039746"/>
            <a:ext cx="4653735" cy="578152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0E4FF6E0-D0EA-DB35-994A-BB7FD8E6BC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246"/>
          <a:stretch>
            <a:fillRect/>
          </a:stretch>
        </p:blipFill>
        <p:spPr>
          <a:xfrm>
            <a:off x="4352478" y="4192146"/>
            <a:ext cx="4653735" cy="578152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29654FDC-C746-2B46-98B9-F7E0D06F89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246"/>
          <a:stretch>
            <a:fillRect/>
          </a:stretch>
        </p:blipFill>
        <p:spPr>
          <a:xfrm>
            <a:off x="4504878" y="4344546"/>
            <a:ext cx="4653735" cy="578152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10C89141-9A2C-8D52-EEEB-1BF352E45A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246"/>
          <a:stretch>
            <a:fillRect/>
          </a:stretch>
        </p:blipFill>
        <p:spPr>
          <a:xfrm>
            <a:off x="4657278" y="4496946"/>
            <a:ext cx="4653735" cy="578152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41F429D0-2328-FF56-DFD3-1F89E8A004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246"/>
          <a:stretch>
            <a:fillRect/>
          </a:stretch>
        </p:blipFill>
        <p:spPr>
          <a:xfrm>
            <a:off x="4900822" y="5012457"/>
            <a:ext cx="4653735" cy="578152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4384A8E3-D540-8DBC-39AC-B5AAC9E967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246"/>
          <a:stretch>
            <a:fillRect/>
          </a:stretch>
        </p:blipFill>
        <p:spPr>
          <a:xfrm>
            <a:off x="5144365" y="5491549"/>
            <a:ext cx="4653735" cy="57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311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010603-5424-267C-FDDF-4324E3C4F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3537" y="1554431"/>
            <a:ext cx="5275621" cy="41430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FF4977-0388-F225-6A17-7A7BBF07D021}"/>
              </a:ext>
            </a:extLst>
          </p:cNvPr>
          <p:cNvSpPr txBox="1"/>
          <p:nvPr/>
        </p:nvSpPr>
        <p:spPr>
          <a:xfrm>
            <a:off x="1" y="344142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Men Time Spent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BA97850-2208-0EDE-0515-385F28E20BF3}"/>
              </a:ext>
            </a:extLst>
          </p:cNvPr>
          <p:cNvSpPr/>
          <p:nvPr/>
        </p:nvSpPr>
        <p:spPr>
          <a:xfrm>
            <a:off x="10357193" y="3375369"/>
            <a:ext cx="1061733" cy="593970"/>
          </a:xfrm>
          <a:prstGeom prst="ellipse">
            <a:avLst/>
          </a:prstGeom>
          <a:solidFill>
            <a:srgbClr val="FFFF00">
              <a:alpha val="35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75B7383-858C-9175-2979-817BE00B0723}"/>
              </a:ext>
            </a:extLst>
          </p:cNvPr>
          <p:cNvSpPr/>
          <p:nvPr/>
        </p:nvSpPr>
        <p:spPr>
          <a:xfrm>
            <a:off x="10389202" y="4223237"/>
            <a:ext cx="909333" cy="504135"/>
          </a:xfrm>
          <a:prstGeom prst="ellipse">
            <a:avLst/>
          </a:prstGeom>
          <a:solidFill>
            <a:srgbClr val="FFFF00">
              <a:alpha val="35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1CEA8A5-3406-F3C0-62F5-64BF73937D57}"/>
              </a:ext>
            </a:extLst>
          </p:cNvPr>
          <p:cNvSpPr/>
          <p:nvPr/>
        </p:nvSpPr>
        <p:spPr>
          <a:xfrm>
            <a:off x="10297783" y="2207114"/>
            <a:ext cx="1363949" cy="781819"/>
          </a:xfrm>
          <a:prstGeom prst="ellipse">
            <a:avLst/>
          </a:prstGeom>
          <a:solidFill>
            <a:srgbClr val="FFFF00">
              <a:alpha val="35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A64E344-6C44-4AD0-DDEF-E90CE0D2E8B8}"/>
              </a:ext>
            </a:extLst>
          </p:cNvPr>
          <p:cNvSpPr/>
          <p:nvPr/>
        </p:nvSpPr>
        <p:spPr>
          <a:xfrm>
            <a:off x="6200661" y="1384323"/>
            <a:ext cx="887973" cy="584775"/>
          </a:xfrm>
          <a:prstGeom prst="ellipse">
            <a:avLst/>
          </a:prstGeom>
          <a:solidFill>
            <a:srgbClr val="FFFF00">
              <a:alpha val="35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DD0FD9-3CC8-E95C-0228-0161420E0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68" y="1554431"/>
            <a:ext cx="4849144" cy="3882592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75AA3C22-E62E-20F5-F117-D98AE2D72EE7}"/>
              </a:ext>
            </a:extLst>
          </p:cNvPr>
          <p:cNvSpPr/>
          <p:nvPr/>
        </p:nvSpPr>
        <p:spPr>
          <a:xfrm>
            <a:off x="4550802" y="1914726"/>
            <a:ext cx="887973" cy="584775"/>
          </a:xfrm>
          <a:prstGeom prst="ellipse">
            <a:avLst/>
          </a:prstGeom>
          <a:solidFill>
            <a:srgbClr val="FFFF00">
              <a:alpha val="35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A82595E-B147-1B8B-AD1C-9E6E0AF1927F}"/>
              </a:ext>
            </a:extLst>
          </p:cNvPr>
          <p:cNvSpPr/>
          <p:nvPr/>
        </p:nvSpPr>
        <p:spPr>
          <a:xfrm>
            <a:off x="4580484" y="2598023"/>
            <a:ext cx="887973" cy="584775"/>
          </a:xfrm>
          <a:prstGeom prst="ellipse">
            <a:avLst/>
          </a:prstGeom>
          <a:solidFill>
            <a:srgbClr val="FFFF00">
              <a:alpha val="35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375C871-86B9-929E-DD6A-CF0255904F27}"/>
              </a:ext>
            </a:extLst>
          </p:cNvPr>
          <p:cNvSpPr/>
          <p:nvPr/>
        </p:nvSpPr>
        <p:spPr>
          <a:xfrm>
            <a:off x="1768535" y="1582982"/>
            <a:ext cx="1112451" cy="584775"/>
          </a:xfrm>
          <a:prstGeom prst="ellipse">
            <a:avLst/>
          </a:prstGeom>
          <a:solidFill>
            <a:srgbClr val="FFFF00">
              <a:alpha val="35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22CE6A9-B49B-B567-F394-0B3F258B5F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788" y="4651872"/>
            <a:ext cx="4984885" cy="203143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B609BC5-1145-C16B-B36B-E66AEFD526D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0859" b="72246"/>
          <a:stretch>
            <a:fillRect/>
          </a:stretch>
        </p:blipFill>
        <p:spPr>
          <a:xfrm>
            <a:off x="189860" y="5481072"/>
            <a:ext cx="3787743" cy="1202235"/>
          </a:xfrm>
          <a:prstGeom prst="rect">
            <a:avLst/>
          </a:prstGeom>
        </p:spPr>
      </p:pic>
      <p:sp>
        <p:nvSpPr>
          <p:cNvPr id="14" name="Right Arrow 13">
            <a:extLst>
              <a:ext uri="{FF2B5EF4-FFF2-40B4-BE49-F238E27FC236}">
                <a16:creationId xmlns:a16="http://schemas.microsoft.com/office/drawing/2014/main" id="{5264C44A-E910-D58F-06FB-1511A8BD1DC1}"/>
              </a:ext>
            </a:extLst>
          </p:cNvPr>
          <p:cNvSpPr/>
          <p:nvPr/>
        </p:nvSpPr>
        <p:spPr>
          <a:xfrm>
            <a:off x="4104354" y="5959369"/>
            <a:ext cx="765621" cy="463463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207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34C16-2827-C202-0CF4-8B93119EE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F01BB-54E9-25BB-135F-B004E636C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4.2</a:t>
            </a:r>
            <a:br>
              <a:rPr lang="en-US" dirty="0"/>
            </a:br>
            <a:r>
              <a:rPr lang="en-US" sz="2000" dirty="0"/>
              <a:t>Explore columns, combine, and manage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18A3D-117D-452E-AF8D-A71AF7C8C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41504" cy="4351338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Perform a column exploration to identify and fix problems with column names across the years.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Read, adjust columns, and UNION the yearly activity files.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Write the master activity file as a CSV formatted file.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Consider the graphs and activity files and answer the following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What aggregations will need to be performed?  Think about the units of the axis etc.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Now consider the structure of the activity table.  What does a case/row represent?  How can this be aggregated?  HINT: It might take multiple rounds of aggregation.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 each plot, map out a strategy for transforming the data into the form needed for each plot.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805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169</Words>
  <Application>Microsoft Macintosh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Lab 4.2 Explore columns, combine, and manage categories</vt:lpstr>
    </vt:vector>
  </TitlesOfParts>
  <Company>Winona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Malone, Christopher J</dc:creator>
  <cp:lastModifiedBy>Iverson, Todd</cp:lastModifiedBy>
  <cp:revision>19</cp:revision>
  <dcterms:created xsi:type="dcterms:W3CDTF">2025-07-16T01:47:32Z</dcterms:created>
  <dcterms:modified xsi:type="dcterms:W3CDTF">2025-10-07T12:55:03Z</dcterms:modified>
</cp:coreProperties>
</file>